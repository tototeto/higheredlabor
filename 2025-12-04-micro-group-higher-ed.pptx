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9" r:id="rId5"/>
    <p:sldId id="280" r:id="rId6"/>
    <p:sldId id="260" r:id="rId7"/>
    <p:sldId id="261" r:id="rId8"/>
    <p:sldId id="264" r:id="rId9"/>
    <p:sldId id="263" r:id="rId10"/>
    <p:sldId id="262" r:id="rId11"/>
    <p:sldId id="265" r:id="rId12"/>
    <p:sldId id="281" r:id="rId13"/>
    <p:sldId id="266" r:id="rId14"/>
    <p:sldId id="276" r:id="rId15"/>
    <p:sldId id="267" r:id="rId16"/>
    <p:sldId id="268" r:id="rId17"/>
    <p:sldId id="270" r:id="rId18"/>
    <p:sldId id="269" r:id="rId19"/>
    <p:sldId id="272" r:id="rId20"/>
    <p:sldId id="275" r:id="rId21"/>
    <p:sldId id="277" r:id="rId22"/>
    <p:sldId id="273" r:id="rId23"/>
    <p:sldId id="274" r:id="rId24"/>
    <p:sldId id="278" r:id="rId25"/>
    <p:sldId id="27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1B485CE-4D72-49E2-906B-96867894BED4}">
          <p14:sldIdLst>
            <p14:sldId id="256"/>
            <p14:sldId id="257"/>
            <p14:sldId id="258"/>
            <p14:sldId id="279"/>
            <p14:sldId id="280"/>
            <p14:sldId id="260"/>
            <p14:sldId id="261"/>
            <p14:sldId id="264"/>
            <p14:sldId id="263"/>
            <p14:sldId id="262"/>
          </p14:sldIdLst>
        </p14:section>
        <p14:section name="Untitled Section" id="{2AE6E08B-65E3-46E6-8FFB-CF4B7F471DFE}">
          <p14:sldIdLst>
            <p14:sldId id="265"/>
            <p14:sldId id="281"/>
            <p14:sldId id="266"/>
            <p14:sldId id="276"/>
            <p14:sldId id="267"/>
            <p14:sldId id="268"/>
            <p14:sldId id="270"/>
            <p14:sldId id="269"/>
            <p14:sldId id="272"/>
            <p14:sldId id="275"/>
            <p14:sldId id="277"/>
            <p14:sldId id="273"/>
            <p14:sldId id="274"/>
            <p14:sldId id="278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189" autoAdjust="0"/>
  </p:normalViewPr>
  <p:slideViewPr>
    <p:cSldViewPr snapToGrid="0">
      <p:cViewPr varScale="1">
        <p:scale>
          <a:sx n="104" d="100"/>
          <a:sy n="104" d="100"/>
        </p:scale>
        <p:origin x="7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21F0C-40D6-AE3A-A122-3844D9214C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D977B0-D36D-EA1E-F286-F85E2BDDDA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233DA-A3E9-CA3F-90AD-1ED77D462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2367A-F8AC-644F-A378-B2194D40699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5D1DA-4ACC-550D-D6D0-7281988C4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EDCF4-C0A6-B8AE-D93C-6C3893B8B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976CC-CD07-DB47-9217-24DCB76E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242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57F2C-760E-E07E-50C3-C7462067D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CB399-8E60-04CD-561C-8D799D81B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ACB01-435E-9B7E-E76E-238556737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2367A-F8AC-644F-A378-B2194D40699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ACBA4-9B28-BE85-264B-46D1FC3C2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3266A-1316-1977-D9A6-F67246B86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976CC-CD07-DB47-9217-24DCB76E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56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1CB39-371D-628E-5E65-0FB6B5B6B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68BE12-6389-A235-7BB9-A94866A2E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3E9FB-9FBC-5160-E4BA-CF8FD1DC9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2367A-F8AC-644F-A378-B2194D40699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BC28C-E98E-7CC5-0D06-4CE3B46D0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35B80-F777-54D2-4F17-3748F0978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976CC-CD07-DB47-9217-24DCB76E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075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69D31-4D47-CA5B-F853-68A9C9CB6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B2B21-78BF-07A4-FC09-24870A696F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6D25CD-086A-03C1-0AD1-D63458470A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099DAE-0CB0-6F22-95EB-45D551B7E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2367A-F8AC-644F-A378-B2194D40699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2308EC-8EF7-908B-F9B3-D070B652E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1AE3EB-9950-6E43-1A5E-8FA11756A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976CC-CD07-DB47-9217-24DCB76E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44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7244F-E2A9-B241-1914-4DE10D2AB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66AE3-CE65-2C12-3658-785D3E921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93F868-BFD3-23E3-50B3-0DC507B9E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9546AD-9D40-085A-757C-B5CBEBA1BD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6C4C1F-C47E-8A92-856D-0C3EDFAEDC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126DB4-1864-B851-FB0A-1560D6155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2367A-F8AC-644F-A378-B2194D40699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1F2517-8DB0-E222-AA4B-AE6C6EB52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C8C84F-BF85-F7FE-71A3-98CFB9C17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976CC-CD07-DB47-9217-24DCB76E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066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8251A-A8BC-B929-1643-B4CB6E31E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914C20-0D3F-A639-4F0D-282538A80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2367A-F8AC-644F-A378-B2194D40699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96FB3C-574F-6DFC-DDBC-908756CA6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437D53-683D-D0A4-D04E-A0798055D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976CC-CD07-DB47-9217-24DCB76E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617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A89C2A-8C57-29B5-5914-5CF2EDA61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2367A-F8AC-644F-A378-B2194D40699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A1C68F-92D8-57C1-18C9-E768BCD57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9DFB98-2D7F-1356-0129-D2157B584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976CC-CD07-DB47-9217-24DCB76E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049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C655C-9269-AAE6-5059-8990DF5BF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79D07-E9D6-D5F3-301C-5219FD340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DDCA79-CD26-21F5-FE60-8BC3502161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749AF8-DE2C-3E08-6478-4EDD5FCDF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2367A-F8AC-644F-A378-B2194D40699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44FC1F-88F3-F78C-AE12-F1E50AA64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781C8-BF6E-ED57-10D6-38041E859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976CC-CD07-DB47-9217-24DCB76E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891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E6F88-94B6-E1B2-7D61-D69F7FAE4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8DED0B-A20D-1F38-7606-A903D813E4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3B3844-BD7F-F478-6E78-37813E05D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AA6E73-36D6-D0DB-BE59-AA27A323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2367A-F8AC-644F-A378-B2194D40699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D376D3-83FF-E758-A5C8-91A7D9F3B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CD1CB1-03E8-A9FE-4C1C-2C6D140FC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976CC-CD07-DB47-9217-24DCB76E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784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02648-22E6-C4CB-B7F6-925ACE504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BF5764-D1AC-ED7B-E623-43F9ED7B17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F359F-9505-1E6B-35DB-D903E45E0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2367A-F8AC-644F-A378-B2194D40699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62C29-022F-AA6D-5B71-220DA3FDE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B52EF-F94A-E4CE-8C94-64F5CDE82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976CC-CD07-DB47-9217-24DCB76E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468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C21771-FFD3-4A26-3DC3-4EB2A44127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7DEFB9-FAB0-D3AF-DDBD-13ABE525AF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47A49-B424-8A1F-581B-D2F7107B0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2367A-F8AC-644F-A378-B2194D40699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78CC3-0EA6-0B0E-D65D-F00836846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AE46C-4A28-E285-8E54-0DC9FBC5E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976CC-CD07-DB47-9217-24DCB76E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638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8AA4A4-14B3-912E-32F5-614905F13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E2A91-0AB1-2859-37E0-1D009057D7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5B8D1-DC19-0BE0-F6CD-D840A89B19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82367A-F8AC-644F-A378-B2194D40699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55681-3325-FEEC-3ECC-2BBA515AD7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CD8C1-E5D8-DF9F-BEFE-4BECCE175C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D976CC-CD07-DB47-9217-24DCB76E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877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2A5AF-B4B4-49BB-2ED9-FE7A4231CF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Preliminary Results from Recent Work in Higher Ed Finance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D09949-32F5-036F-2645-AEE67C50CA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Keaton Miller</a:t>
            </a:r>
          </a:p>
          <a:p>
            <a:r>
              <a:rPr lang="en-US" dirty="0"/>
              <a:t>Tom Ben-Shahar</a:t>
            </a:r>
          </a:p>
        </p:txBody>
      </p:sp>
    </p:spTree>
    <p:extLst>
      <p:ext uri="{BB962C8B-B14F-4D97-AF65-F5344CB8AC3E}">
        <p14:creationId xmlns:p14="http://schemas.microsoft.com/office/powerpoint/2010/main" val="2107067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1F399-0F21-D747-DA05-40AE10955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Higher Ed sector is under considerable scrutiny and pressure from multiple dimensions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947DB-5CE5-0E47-0DCC-30BDFA838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Federal government skeptical of academic freedom and admissions policies</a:t>
            </a:r>
          </a:p>
          <a:p>
            <a:r>
              <a:rPr lang="en-US" dirty="0"/>
              <a:t>State governments face revenue challenges and see higher ed as source, not sink</a:t>
            </a:r>
          </a:p>
          <a:p>
            <a:r>
              <a:rPr lang="en-US" dirty="0"/>
              <a:t>Broader public skeptical of value proposition for higher ed degrees</a:t>
            </a:r>
          </a:p>
          <a:p>
            <a:r>
              <a:rPr lang="en-US" dirty="0"/>
              <a:t>These trends have increased intra-sector and institutional frictions – time for </a:t>
            </a:r>
            <a:r>
              <a:rPr lang="en-US"/>
              <a:t>some introspection!</a:t>
            </a:r>
            <a:endParaRPr lang="en-US" dirty="0"/>
          </a:p>
          <a:p>
            <a:r>
              <a:rPr lang="en-US" b="1" dirty="0"/>
              <a:t>Today: </a:t>
            </a:r>
            <a:r>
              <a:rPr lang="en-US" i="1" dirty="0"/>
              <a:t>Preliminary</a:t>
            </a:r>
            <a:r>
              <a:rPr lang="en-US" dirty="0"/>
              <a:t> results on two pressing questions + roadmap for future work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50324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15EDB0-22A7-40DD-C292-7A846CB775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Faculty Unions, Faculty Salaries, and Tuition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6E6363B-7C16-C6D3-E189-4525EF6FE6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Keaton Miller</a:t>
            </a:r>
          </a:p>
          <a:p>
            <a:r>
              <a:rPr lang="en-US" dirty="0"/>
              <a:t>Tom Ben-Shahar</a:t>
            </a:r>
          </a:p>
        </p:txBody>
      </p:sp>
    </p:spTree>
    <p:extLst>
      <p:ext uri="{BB962C8B-B14F-4D97-AF65-F5344CB8AC3E}">
        <p14:creationId xmlns:p14="http://schemas.microsoft.com/office/powerpoint/2010/main" val="656098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81CB1-E383-0A82-C8C9-8A1174C1E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Higher education since 1970: A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779DC-6883-FAB4-74FF-54DB313C6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Measures of research and instructional productivity have increased (Sridhar et al., 2010; Brint &amp; Clotfelter, 2016; Haghani et al., 2022)</a:t>
            </a:r>
          </a:p>
          <a:p>
            <a:endParaRPr lang="en-US" dirty="0"/>
          </a:p>
          <a:p>
            <a:r>
              <a:rPr lang="en-US" dirty="0"/>
              <a:t>Institutional financial health has improved (</a:t>
            </a:r>
            <a:r>
              <a:rPr lang="en-US" dirty="0" err="1"/>
              <a:t>Zumeta</a:t>
            </a:r>
            <a:r>
              <a:rPr lang="en-US" dirty="0"/>
              <a:t> et al., 2012)</a:t>
            </a:r>
          </a:p>
          <a:p>
            <a:endParaRPr lang="en-US" dirty="0"/>
          </a:p>
          <a:p>
            <a:r>
              <a:rPr lang="en-US" dirty="0"/>
              <a:t>Student debt has increased (Mitchell, 2021; Dinerstein et al., 2024)</a:t>
            </a:r>
          </a:p>
          <a:p>
            <a:endParaRPr lang="en-US" dirty="0"/>
          </a:p>
          <a:p>
            <a:r>
              <a:rPr lang="en-US" b="1" dirty="0"/>
              <a:t>Yet average real faculty salaries have remained constant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982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AFE00-A117-384B-7427-D6AC00118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response, faculty at many universities have chosen to unionize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0AAF3-E922-782D-4004-82C6F249A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Faculty tradeoff: </a:t>
            </a:r>
            <a:r>
              <a:rPr lang="en-US" dirty="0"/>
              <a:t>Pay union dues (e.g. 1% of salary) to get greater power in labor market</a:t>
            </a:r>
          </a:p>
          <a:p>
            <a:pPr lvl="1"/>
            <a:r>
              <a:rPr lang="en-US" b="1" dirty="0"/>
              <a:t>But: </a:t>
            </a:r>
            <a:r>
              <a:rPr lang="en-US" dirty="0"/>
              <a:t>Do unions focus on pay? Or other issues?</a:t>
            </a:r>
          </a:p>
          <a:p>
            <a:pPr lvl="1"/>
            <a:endParaRPr lang="en-US" b="1" dirty="0"/>
          </a:p>
          <a:p>
            <a:r>
              <a:rPr lang="en-US" b="1" dirty="0"/>
              <a:t>Social tradeoff: </a:t>
            </a:r>
            <a:r>
              <a:rPr lang="en-US" dirty="0"/>
              <a:t>If unions are effective </a:t>
            </a:r>
            <a:r>
              <a:rPr lang="en-US" i="1" dirty="0"/>
              <a:t>and</a:t>
            </a:r>
            <a:r>
              <a:rPr lang="en-US" dirty="0"/>
              <a:t> universities have pricing power, markup logic dictates some passthrough from faculty salaries to tuition</a:t>
            </a:r>
          </a:p>
          <a:p>
            <a:pPr lvl="1"/>
            <a:r>
              <a:rPr lang="en-US" b="1" dirty="0"/>
              <a:t>But: </a:t>
            </a:r>
            <a:r>
              <a:rPr lang="en-US" dirty="0"/>
              <a:t>Potentially other effects of unionization to consider</a:t>
            </a:r>
          </a:p>
          <a:p>
            <a:pPr lvl="1"/>
            <a:endParaRPr lang="en-US" b="1" dirty="0"/>
          </a:p>
          <a:p>
            <a:pPr lvl="1"/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13294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1DB85-08DC-0454-46A0-1CACCE6FE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 use federal financial disclosures and modern diff-in-diff methods to study these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4934B-0737-5ABC-E960-F18A9A2EA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Question:</a:t>
            </a:r>
            <a:r>
              <a:rPr lang="en-US" dirty="0"/>
              <a:t> Does unionization increase faculty salaries? Does it increase tuition?</a:t>
            </a:r>
          </a:p>
          <a:p>
            <a:pPr lvl="1"/>
            <a:r>
              <a:rPr lang="en-US" dirty="0"/>
              <a:t>Could go different directions for different faculty depending on bargaining priorities of union</a:t>
            </a:r>
          </a:p>
          <a:p>
            <a:r>
              <a:rPr lang="en-US" b="1" dirty="0"/>
              <a:t>Data</a:t>
            </a:r>
            <a:r>
              <a:rPr lang="en-US" dirty="0"/>
              <a:t>: IPEDS (Federal, DOE) from 2004-2023, Higher-Ed Collective Bargaining Database from Hunter College, CUNY</a:t>
            </a:r>
          </a:p>
          <a:p>
            <a:r>
              <a:rPr lang="en-US" b="1" dirty="0"/>
              <a:t>Methods: </a:t>
            </a:r>
            <a:r>
              <a:rPr lang="en-US" dirty="0"/>
              <a:t>Diff-in-diff with variation in treatment timing (Callaway &amp; Sant’Anna, 2021)</a:t>
            </a:r>
          </a:p>
          <a:p>
            <a:r>
              <a:rPr lang="en-US" b="1" dirty="0"/>
              <a:t>Results: </a:t>
            </a:r>
            <a:r>
              <a:rPr lang="en-US" i="1" dirty="0"/>
              <a:t>Suggestive</a:t>
            </a:r>
            <a:r>
              <a:rPr lang="en-US" dirty="0"/>
              <a:t> evidence that unions increase salaries slightly, no impact on tuition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66109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8FCE3-FC5E-B766-2E6D-AF0845396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are connected to a broader literature on unionization in higher education and beyond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0356F-66AF-4AE0-9DB7-821D2548E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Union wage premium in higher ed: </a:t>
            </a:r>
            <a:r>
              <a:rPr lang="en-US" dirty="0" err="1"/>
              <a:t>Barbezat</a:t>
            </a:r>
            <a:r>
              <a:rPr lang="en-US" dirty="0"/>
              <a:t>, 1989; Monks, 2000; Hedrick et al., 2011</a:t>
            </a:r>
          </a:p>
          <a:p>
            <a:pPr lvl="1"/>
            <a:r>
              <a:rPr lang="en-US" dirty="0"/>
              <a:t>Most studies find neutral to slightly positive results using survey data</a:t>
            </a:r>
          </a:p>
          <a:p>
            <a:pPr lvl="1"/>
            <a:r>
              <a:rPr lang="en-US" dirty="0"/>
              <a:t>We use administrative data on salaries with independent data on bargaining units</a:t>
            </a:r>
          </a:p>
          <a:p>
            <a:pPr lvl="1"/>
            <a:r>
              <a:rPr lang="en-US" dirty="0"/>
              <a:t>Closest to us: Baker et al. (2024), Canadian context</a:t>
            </a:r>
          </a:p>
          <a:p>
            <a:r>
              <a:rPr lang="en-US" b="1" dirty="0"/>
              <a:t>Drivers of tuition increases: </a:t>
            </a:r>
            <a:r>
              <a:rPr lang="en-US" dirty="0"/>
              <a:t>Archibald &amp; Feldman, 2012; Gillen 2015; Turner, 2018, Bundick &amp; Pollard, 2019</a:t>
            </a:r>
          </a:p>
          <a:p>
            <a:pPr lvl="1"/>
            <a:r>
              <a:rPr lang="en-US" dirty="0"/>
              <a:t>Price discrimination: Higher tuition, but higher aid to match</a:t>
            </a:r>
          </a:p>
          <a:p>
            <a:pPr lvl="1"/>
            <a:r>
              <a:rPr lang="en-US" dirty="0"/>
              <a:t>Non-classroom amenities: Better gyms, more resources</a:t>
            </a:r>
          </a:p>
          <a:p>
            <a:pPr lvl="1"/>
            <a:r>
              <a:rPr lang="en-US" dirty="0"/>
              <a:t>Administrative surplus capture: We can’t pay Deans millions, but we can give them many subordinates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423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4D7E6-AFC3-7A78-CED7-4EF1B0A46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Our data on colleges and universities comes from the Integrated Postsecondary Education Data System (IPEDS)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45612-07C2-68B8-F2B3-85A2B2B0FE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1784910"/>
          </a:xfrm>
        </p:spPr>
        <p:txBody>
          <a:bodyPr>
            <a:normAutofit/>
          </a:bodyPr>
          <a:lstStyle/>
          <a:p>
            <a:r>
              <a:rPr lang="en-US" sz="2400" dirty="0"/>
              <a:t>Participation is mandatory for federal student aid eligibility</a:t>
            </a:r>
          </a:p>
          <a:p>
            <a:r>
              <a:rPr lang="en-US" sz="2400" dirty="0"/>
              <a:t>Collect average salaries and institutional characteristics from 2004-2023</a:t>
            </a:r>
          </a:p>
          <a:p>
            <a:r>
              <a:rPr lang="en-US" sz="2400" dirty="0"/>
              <a:t>10,269 unique institutions</a:t>
            </a:r>
          </a:p>
          <a:p>
            <a:endParaRPr lang="en-US" sz="2400" dirty="0"/>
          </a:p>
          <a:p>
            <a:endParaRPr lang="en-US" sz="2400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3FD6AB2-F10E-1317-9F4A-5938CD279C6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92328043"/>
              </p:ext>
            </p:extLst>
          </p:nvPr>
        </p:nvGraphicFramePr>
        <p:xfrm>
          <a:off x="1813926" y="3610535"/>
          <a:ext cx="8564143" cy="30711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5320">
                  <a:extLst>
                    <a:ext uri="{9D8B030D-6E8A-4147-A177-3AD203B41FA5}">
                      <a16:colId xmlns:a16="http://schemas.microsoft.com/office/drawing/2014/main" val="521634373"/>
                    </a:ext>
                  </a:extLst>
                </a:gridCol>
                <a:gridCol w="1069193">
                  <a:extLst>
                    <a:ext uri="{9D8B030D-6E8A-4147-A177-3AD203B41FA5}">
                      <a16:colId xmlns:a16="http://schemas.microsoft.com/office/drawing/2014/main" val="60795062"/>
                    </a:ext>
                  </a:extLst>
                </a:gridCol>
                <a:gridCol w="1331719">
                  <a:extLst>
                    <a:ext uri="{9D8B030D-6E8A-4147-A177-3AD203B41FA5}">
                      <a16:colId xmlns:a16="http://schemas.microsoft.com/office/drawing/2014/main" val="2732355091"/>
                    </a:ext>
                  </a:extLst>
                </a:gridCol>
                <a:gridCol w="888944">
                  <a:extLst>
                    <a:ext uri="{9D8B030D-6E8A-4147-A177-3AD203B41FA5}">
                      <a16:colId xmlns:a16="http://schemas.microsoft.com/office/drawing/2014/main" val="3908145670"/>
                    </a:ext>
                  </a:extLst>
                </a:gridCol>
                <a:gridCol w="1330023">
                  <a:extLst>
                    <a:ext uri="{9D8B030D-6E8A-4147-A177-3AD203B41FA5}">
                      <a16:colId xmlns:a16="http://schemas.microsoft.com/office/drawing/2014/main" val="547419793"/>
                    </a:ext>
                  </a:extLst>
                </a:gridCol>
                <a:gridCol w="888944">
                  <a:extLst>
                    <a:ext uri="{9D8B030D-6E8A-4147-A177-3AD203B41FA5}">
                      <a16:colId xmlns:a16="http://schemas.microsoft.com/office/drawing/2014/main" val="2359472507"/>
                    </a:ext>
                  </a:extLst>
                </a:gridCol>
              </a:tblGrid>
              <a:tr h="510817">
                <a:tc>
                  <a:txBody>
                    <a:bodyPr/>
                    <a:lstStyle/>
                    <a:p>
                      <a:r>
                        <a:rPr lang="en-US" dirty="0"/>
                        <a:t>Average Salary ($000s)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Std dev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8225867"/>
                  </a:ext>
                </a:extLst>
              </a:tr>
              <a:tr h="295950">
                <a:tc>
                  <a:txBody>
                    <a:bodyPr/>
                    <a:lstStyle/>
                    <a:p>
                      <a:r>
                        <a:rPr lang="en-US" dirty="0"/>
                        <a:t>Assistant Professors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41.7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57.4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81.7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855648"/>
                  </a:ext>
                </a:extLst>
              </a:tr>
              <a:tr h="295950">
                <a:tc>
                  <a:txBody>
                    <a:bodyPr/>
                    <a:lstStyle/>
                    <a:p>
                      <a:r>
                        <a:rPr lang="en-US" dirty="0"/>
                        <a:t>Associate Professor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116391"/>
                  </a:ext>
                </a:extLst>
              </a:tr>
              <a:tr h="295950">
                <a:tc>
                  <a:txBody>
                    <a:bodyPr/>
                    <a:lstStyle/>
                    <a:p>
                      <a:r>
                        <a:rPr lang="en-US" dirty="0"/>
                        <a:t>Professor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77.6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123.2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292786"/>
                  </a:ext>
                </a:extLst>
              </a:tr>
              <a:tr h="295950">
                <a:tc>
                  <a:txBody>
                    <a:bodyPr/>
                    <a:lstStyle/>
                    <a:p>
                      <a:r>
                        <a:rPr lang="en-US" dirty="0"/>
                        <a:t>Instructor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47.3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71.5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051395"/>
                  </a:ext>
                </a:extLst>
              </a:tr>
              <a:tr h="295950">
                <a:tc>
                  <a:txBody>
                    <a:bodyPr/>
                    <a:lstStyle/>
                    <a:p>
                      <a:r>
                        <a:rPr lang="en-US" dirty="0"/>
                        <a:t>Lecturer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73.3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1923876"/>
                  </a:ext>
                </a:extLst>
              </a:tr>
              <a:tr h="295950">
                <a:tc>
                  <a:txBody>
                    <a:bodyPr/>
                    <a:lstStyle/>
                    <a:p>
                      <a:r>
                        <a:rPr lang="en-US" dirty="0"/>
                        <a:t>No 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78.9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137596"/>
                  </a:ext>
                </a:extLst>
              </a:tr>
              <a:tr h="295950">
                <a:tc>
                  <a:txBody>
                    <a:bodyPr/>
                    <a:lstStyle/>
                    <a:p>
                      <a:r>
                        <a:rPr lang="en-US" b="1" dirty="0"/>
                        <a:t>All Instructional Staff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60.6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34.9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57.9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88.9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64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765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A86AD-8C18-299D-8A3E-BD00B9B40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Our data on unions comes from the National Center for the Study of Collective Bargaining in Higher Education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C71F7-1804-3CBC-F050-C6434A377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comes as list of union “locals” and specifies institution, job categories covered, affiliation, recognition date, and first CBA date</a:t>
            </a:r>
          </a:p>
          <a:p>
            <a:pPr lvl="1"/>
            <a:r>
              <a:rPr lang="en-US" dirty="0"/>
              <a:t>Some institutions have multiple locals to cover different job categories</a:t>
            </a:r>
          </a:p>
          <a:p>
            <a:endParaRPr lang="en-US" dirty="0"/>
          </a:p>
          <a:p>
            <a:r>
              <a:rPr lang="en-US" dirty="0"/>
              <a:t>We manually code the data and match to IPEDS institution IDs</a:t>
            </a:r>
          </a:p>
          <a:p>
            <a:endParaRPr lang="en-US" dirty="0"/>
          </a:p>
          <a:p>
            <a:r>
              <a:rPr lang="en-US" dirty="0"/>
              <a:t>Overall: 775 bargaining units covering 600+ institutions</a:t>
            </a:r>
          </a:p>
        </p:txBody>
      </p:sp>
    </p:spTree>
    <p:extLst>
      <p:ext uri="{BB962C8B-B14F-4D97-AF65-F5344CB8AC3E}">
        <p14:creationId xmlns:p14="http://schemas.microsoft.com/office/powerpoint/2010/main" val="391780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24F03-4794-9024-0A83-F11872DDB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Faculty unions have the largest presence in public institutions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6D7AF1-1626-D8AF-42DC-9F85C5400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143" y="1825625"/>
            <a:ext cx="7509711" cy="46672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0D1E27B-51A1-F0FD-F59E-0277EB74526A}"/>
              </a:ext>
            </a:extLst>
          </p:cNvPr>
          <p:cNvSpPr txBox="1"/>
          <p:nvPr/>
        </p:nvSpPr>
        <p:spPr>
          <a:xfrm>
            <a:off x="2341144" y="6380630"/>
            <a:ext cx="30869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Source: </a:t>
            </a:r>
            <a:r>
              <a:rPr lang="en-US" sz="1400" dirty="0"/>
              <a:t>Herbert et al. (2024), Figure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A71059-CF47-2E4B-6FB5-89EA8E67B455}"/>
              </a:ext>
            </a:extLst>
          </p:cNvPr>
          <p:cNvSpPr txBox="1"/>
          <p:nvPr/>
        </p:nvSpPr>
        <p:spPr>
          <a:xfrm>
            <a:off x="3611088" y="1825625"/>
            <a:ext cx="4969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Faculty Union Representation by Institution Type</a:t>
            </a:r>
          </a:p>
        </p:txBody>
      </p:sp>
    </p:spTree>
    <p:extLst>
      <p:ext uri="{BB962C8B-B14F-4D97-AF65-F5344CB8AC3E}">
        <p14:creationId xmlns:p14="http://schemas.microsoft.com/office/powerpoint/2010/main" val="2996746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72D32-3A99-DB5D-6F87-D8672A35E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use a differences-in-differences framework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DCDA85-CE22-2344-9074-139F8A1D63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𝐿𝑜𝑔𝑆𝑎𝑙𝑎𝑟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𝑇𝑟𝑒𝑎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𝑃𝑜𝑠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𝑇𝑟𝑒𝑎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𝑃𝑜𝑠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(Separately for each faculty rank)</a:t>
                </a:r>
              </a:p>
              <a:p>
                <a:r>
                  <a:rPr lang="en-US" dirty="0"/>
                  <a:t>Need to adjust for multiple treatment timings (Callaway &amp; Sant’Anna, 2021)</a:t>
                </a:r>
              </a:p>
              <a:p>
                <a:r>
                  <a:rPr lang="en-US" b="1" dirty="0"/>
                  <a:t>Assumption: </a:t>
                </a:r>
                <a:r>
                  <a:rPr lang="en-US" dirty="0"/>
                  <a:t>Selection into unionization is not due to salary trajectory</a:t>
                </a:r>
              </a:p>
              <a:p>
                <a:pPr lvl="1"/>
                <a:r>
                  <a:rPr lang="en-US" dirty="0"/>
                  <a:t>Possibly heroic? But can test using event study view of C&amp;S estimator…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DCDA85-CE22-2344-9074-139F8A1D63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8764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BE095-A483-3EC2-0CAB-98C4F9B52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Overall, we find weak evidence that unionization increases faculty salaries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915FF1A-5925-7917-0DB8-68E0A33CF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521" y="1690688"/>
            <a:ext cx="9978957" cy="498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539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668E7-331D-02F0-FDA0-82466CBAA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signal is strongest for associate professors (most incentive compatible?)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4B6F02-14F4-70D3-5A94-F5ABC9B96E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561371" y="1690688"/>
            <a:ext cx="5069257" cy="25346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BFC56F-06AD-29FD-B274-440F59C924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3371" y="4229353"/>
            <a:ext cx="5069257" cy="25346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95271B-2DCA-BE5D-C216-120315FBB7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09371" y="4225317"/>
            <a:ext cx="5069258" cy="2534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0924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8B316-DEC6-ECA9-012B-DABA4DDD8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Instructors fare better than lecturers (possible union priority to change classifications)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EA16BD-4CBB-E61D-39F5-6DD78CA59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45" y="1690688"/>
            <a:ext cx="5269346" cy="26346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4EE93C6-67FE-8A44-B51F-C4EAF1036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018" y="1706564"/>
            <a:ext cx="5269345" cy="263467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AA3CAA7-1E57-9A37-EB70-6430A16ED5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782" y="4082472"/>
            <a:ext cx="5269345" cy="263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217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277EF-10E4-384B-D555-965811E90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don’t find evidence that unionization increases tuition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2307F5-0876-AE34-36D4-C21958AAC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51546"/>
            <a:ext cx="6096000" cy="304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42E6BD4-FC50-E562-8350-9F8F2E795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551546"/>
            <a:ext cx="6096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7115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6118B-ECCE-F982-F659-91F70DA88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have substantially more work to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53493-DB8F-52FF-D4E5-890BC33E3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Initial results suggest unionization weakly positive impact on salaries, no impact on tuition</a:t>
            </a:r>
          </a:p>
          <a:p>
            <a:pPr lvl="1"/>
            <a:r>
              <a:rPr lang="en-US" dirty="0"/>
              <a:t>Biggest signal for Associate Professors</a:t>
            </a:r>
          </a:p>
          <a:p>
            <a:pPr lvl="1"/>
            <a:endParaRPr lang="en-US" dirty="0"/>
          </a:p>
          <a:p>
            <a:r>
              <a:rPr lang="en-US" b="1" dirty="0"/>
              <a:t>Next steps</a:t>
            </a:r>
            <a:r>
              <a:rPr lang="en-US" dirty="0"/>
              <a:t>: tighten identification, more robustness checks, other outcomes</a:t>
            </a:r>
          </a:p>
          <a:p>
            <a:pPr lvl="1"/>
            <a:r>
              <a:rPr lang="en-US" dirty="0"/>
              <a:t>Do unions successfully reduce “precarity” for academic labor?</a:t>
            </a:r>
          </a:p>
          <a:p>
            <a:pPr lvl="1"/>
            <a:r>
              <a:rPr lang="en-US" dirty="0"/>
              <a:t>Are different national affiliates “better” at negotiating wages?</a:t>
            </a:r>
          </a:p>
          <a:p>
            <a:endParaRPr lang="en-US" dirty="0"/>
          </a:p>
          <a:p>
            <a:r>
              <a:rPr lang="en-US" dirty="0"/>
              <a:t>Future work: Model of admin/faculty bargaining? Production function estimation?</a:t>
            </a:r>
          </a:p>
        </p:txBody>
      </p:sp>
    </p:spTree>
    <p:extLst>
      <p:ext uri="{BB962C8B-B14F-4D97-AF65-F5344CB8AC3E}">
        <p14:creationId xmlns:p14="http://schemas.microsoft.com/office/powerpoint/2010/main" val="558064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BF413-2C50-3527-41D3-9DCA39972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4C7E77-6702-AD27-F7A0-C976D5815E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effect of Foundation Transparency Laws on Foundation Size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4C49A18-7573-913A-7E73-664A5261F8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Tom Ben-Shahar</a:t>
            </a:r>
          </a:p>
          <a:p>
            <a:r>
              <a:rPr lang="en-US" dirty="0"/>
              <a:t>Keaton Miller</a:t>
            </a:r>
          </a:p>
        </p:txBody>
      </p:sp>
    </p:spTree>
    <p:extLst>
      <p:ext uri="{BB962C8B-B14F-4D97-AF65-F5344CB8AC3E}">
        <p14:creationId xmlns:p14="http://schemas.microsoft.com/office/powerpoint/2010/main" val="13411378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EF497-1839-A319-F4E2-1F3E8799C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Another important feature of the modern higher-ed landscape is the University Foundation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C9337-A087-71A4-48CC-78E95BDA8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Non-profit associated with an institution which manages donations and builds wealth to support research/education/operations at major universities</a:t>
            </a:r>
          </a:p>
          <a:p>
            <a:endParaRPr lang="en-US" dirty="0"/>
          </a:p>
          <a:p>
            <a:r>
              <a:rPr lang="en-US" dirty="0"/>
              <a:t>Legal distinction from main institution (especially public institutions) means foundation not subject to public records laws</a:t>
            </a:r>
          </a:p>
          <a:p>
            <a:endParaRPr lang="en-US" dirty="0"/>
          </a:p>
          <a:p>
            <a:r>
              <a:rPr lang="en-US" dirty="0"/>
              <a:t>Advocates want to broaden laws to include foundations, opponents fear reduced contributions</a:t>
            </a:r>
          </a:p>
          <a:p>
            <a:endParaRPr lang="en-US" dirty="0"/>
          </a:p>
          <a:p>
            <a:r>
              <a:rPr lang="en-US" b="1" dirty="0"/>
              <a:t>This paper: </a:t>
            </a:r>
            <a:r>
              <a:rPr lang="en-US" dirty="0"/>
              <a:t>check for effects from existing laws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434633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F3A67-B309-3250-146C-6E226CDE2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Our data on transparency laws was compiled by Andrew Ducharme, a UO physics PhD student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329E95-075C-3625-A2B7-5B1B9D2E25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766" b="34184"/>
          <a:stretch>
            <a:fillRect/>
          </a:stretch>
        </p:blipFill>
        <p:spPr>
          <a:xfrm>
            <a:off x="1650460" y="1780162"/>
            <a:ext cx="9104752" cy="4513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0358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3F439-873C-7DA3-C68E-320D173BE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IPEDS contains data covering university foundations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93A40C-E6DA-3861-0722-BD67F691B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967" y="1532782"/>
            <a:ext cx="9612066" cy="532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5579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8836D-065A-94A3-C0F1-8995BACAC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Endowment Trend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B2DCB5-DD35-845A-DB6E-3C48375B3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5005" y="189688"/>
            <a:ext cx="4319082" cy="6478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9758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1F209-C24C-89CF-BFA2-047648D83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follow the diff-in-diff approach of the previous section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F7B10-A7BA-D628-52DB-EA63391FB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Again, multiple treatment times means we’re in Callaway &amp; Sant’Anna (2021) territory</a:t>
            </a:r>
          </a:p>
          <a:p>
            <a:endParaRPr lang="en-US" dirty="0"/>
          </a:p>
          <a:p>
            <a:r>
              <a:rPr lang="en-US" dirty="0"/>
              <a:t>Here, identification story is likely stronger: most of these laws are not </a:t>
            </a:r>
            <a:r>
              <a:rPr lang="en-US" i="1" dirty="0"/>
              <a:t>specifically</a:t>
            </a:r>
            <a:r>
              <a:rPr lang="en-US" dirty="0"/>
              <a:t> about foundations</a:t>
            </a:r>
          </a:p>
        </p:txBody>
      </p:sp>
    </p:spTree>
    <p:extLst>
      <p:ext uri="{BB962C8B-B14F-4D97-AF65-F5344CB8AC3E}">
        <p14:creationId xmlns:p14="http://schemas.microsoft.com/office/powerpoint/2010/main" val="36279177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49D7B-F354-1E89-4DF2-3F619D92B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Our preliminary results suggest that, if anything, transparency improves the financial health of foundations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387BA2-2C08-9413-9D90-5B97CFEA2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549" y="1690688"/>
            <a:ext cx="3444875" cy="51673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7F2FC0-85D9-B14E-789D-A48195897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5578" y="1690688"/>
            <a:ext cx="3444875" cy="516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1393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86623-AFDE-EE60-225C-B65FC2843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AF620-ABE3-0E86-F5D6-A51C93F89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Our preliminary results suggest that, if anything, transparency improves the financial health of foundations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DAF514-56B5-F7C2-6770-8DFD439C0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350" y="1599748"/>
            <a:ext cx="8449854" cy="502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4567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8A2B0-A8F3-EF26-881C-EC4F99142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These preliminary results suggest future research directions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67EEF-EBAD-7DB3-82DD-A2BA47E50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Unions: </a:t>
            </a:r>
            <a:r>
              <a:rPr lang="en-US" dirty="0"/>
              <a:t>Does unionization change the bargaining relationship between faculty and admin?</a:t>
            </a:r>
          </a:p>
          <a:p>
            <a:pPr lvl="1"/>
            <a:r>
              <a:rPr lang="en-US" dirty="0"/>
              <a:t>Drive to unionize may not be about salaries </a:t>
            </a:r>
            <a:r>
              <a:rPr lang="en-US" i="1" dirty="0"/>
              <a:t>per se</a:t>
            </a:r>
            <a:r>
              <a:rPr lang="en-US" dirty="0"/>
              <a:t> but about power structure and resource allocation questions</a:t>
            </a:r>
          </a:p>
          <a:p>
            <a:pPr lvl="1"/>
            <a:endParaRPr lang="en-US" dirty="0"/>
          </a:p>
          <a:p>
            <a:r>
              <a:rPr lang="en-US" b="1" dirty="0"/>
              <a:t>Higher Ed Production: </a:t>
            </a:r>
            <a:r>
              <a:rPr lang="en-US" dirty="0"/>
              <a:t>Seems production function for higher ed has changed, is this estimable?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20536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1747</TotalTime>
  <Words>1085</Words>
  <Application>Microsoft Office PowerPoint</Application>
  <PresentationFormat>Widescreen</PresentationFormat>
  <Paragraphs>151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Cambria Math</vt:lpstr>
      <vt:lpstr>Office Theme</vt:lpstr>
      <vt:lpstr>Preliminary Results from Recent Work in Higher Ed Finance</vt:lpstr>
      <vt:lpstr>The Higher Ed sector is under considerable scrutiny and pressure from multiple dimensions</vt:lpstr>
      <vt:lpstr>Faculty Unions, Faculty Salaries, and Tuition</vt:lpstr>
      <vt:lpstr>Higher education since 1970: A summary</vt:lpstr>
      <vt:lpstr>In response, faculty at many universities have chosen to unionize</vt:lpstr>
      <vt:lpstr>We use federal financial disclosures and modern diff-in-diff methods to study these issues</vt:lpstr>
      <vt:lpstr>We are connected to a broader literature on unionization in higher education and beyond</vt:lpstr>
      <vt:lpstr>Our data on colleges and universities comes from the Integrated Postsecondary Education Data System (IPEDS)</vt:lpstr>
      <vt:lpstr>Our data on unions comes from the National Center for the Study of Collective Bargaining in Higher Education</vt:lpstr>
      <vt:lpstr>Faculty unions have the largest presence in public institutions</vt:lpstr>
      <vt:lpstr>We use a differences-in-differences framework</vt:lpstr>
      <vt:lpstr>Overall, we find weak evidence that unionization increases faculty salaries</vt:lpstr>
      <vt:lpstr>The signal is strongest for associate professors (most incentive compatible?)</vt:lpstr>
      <vt:lpstr>Instructors fare better than lecturers (possible union priority to change classifications)</vt:lpstr>
      <vt:lpstr>We don’t find evidence that unionization increases tuition</vt:lpstr>
      <vt:lpstr>We have substantially more work to do</vt:lpstr>
      <vt:lpstr>The effect of Foundation Transparency Laws on Foundation Size</vt:lpstr>
      <vt:lpstr>Another important feature of the modern higher-ed landscape is the University Foundation</vt:lpstr>
      <vt:lpstr>Our data on transparency laws was compiled by Andrew Ducharme, a UO physics PhD student </vt:lpstr>
      <vt:lpstr>IPEDS contains data covering university foundations</vt:lpstr>
      <vt:lpstr>Endowment Trend</vt:lpstr>
      <vt:lpstr>We follow the diff-in-diff approach of the previous section</vt:lpstr>
      <vt:lpstr>Our preliminary results suggest that, if anything, transparency improves the financial health of foundations</vt:lpstr>
      <vt:lpstr>Our preliminary results suggest that, if anything, transparency improves the financial health of foundations</vt:lpstr>
      <vt:lpstr>These preliminary results suggest future research directions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Keaton Miller</dc:creator>
  <cp:lastModifiedBy>tom ben</cp:lastModifiedBy>
  <cp:revision>15</cp:revision>
  <dcterms:created xsi:type="dcterms:W3CDTF">2025-11-21T18:13:37Z</dcterms:created>
  <dcterms:modified xsi:type="dcterms:W3CDTF">2025-12-05T18:21:51Z</dcterms:modified>
</cp:coreProperties>
</file>